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25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F6ED9-653A-4686-ABCE-4485A6B33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A522B8-0E26-47C7-B262-AF7AA00E2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95A032-F9FB-4D8D-9F45-45495369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C1EDC9-74F9-435F-BA34-C06735D3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885DAB-7BA1-4497-943E-8A3151C2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26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B232D-F299-4644-959C-31F40299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857645-E1CA-4E63-A0D0-00CCCEE0E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6DFCA-4AF1-4582-91F4-D67B3302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7724D-716B-4736-B6AF-65E6517F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FB08EA-B045-4C31-B588-81B285BB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134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EE9CD-D98A-481C-9096-095E0BD4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59B422-CD24-4E24-9373-C0A059F7E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F4FC4C-A73B-4F81-B4CE-F5562630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95F1D-7EA9-42E3-A186-11868730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F3AC1A-AA4F-4475-88F4-5E6730D4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250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A22AE-D445-490D-9F4B-455CC2364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3C05B8-09A8-4CA2-9922-143E16AD7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0AE31B-564F-47D2-B838-BE71090F3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FD069F-6343-43AC-844B-102D090E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25037F-E6E7-4756-BE27-68FC15D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624076-CC3A-4771-97CB-99929D05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710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E6C61-C276-43F8-8770-ADEEFC82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766889-52D1-4DA1-BF03-306FBF9CF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7D82C4-A1B1-420E-929C-E8E17271E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A2C1EE-0E69-4D2A-9728-EF8F403CB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879036-F9C6-468F-8BD0-68A67A77B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E1337A6-73D5-4076-9A7B-1CB19EE4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D6FF2A-50F2-4EFC-99A4-7A328E16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6A5234A-57B8-43D3-835C-B9BAFA94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8218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ABE60-EBF6-46E2-BF5E-2315F513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454E81-3042-4C5F-9E1A-B0BC1B13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A67A2A8-6649-42D2-BD0F-894F4D57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C319E9-A820-4663-8187-487F85AD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213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D0D704-7F0A-4373-B171-B1A9369E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CBCAA9-2972-43CC-B5B3-50D2DE157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83DD1-8639-465C-B029-CBC3C9BB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601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65529-7A7B-4193-9A7B-D97A4837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A850B7-B3B0-476C-9C36-AE768EEDF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2552F9-EF26-4788-9935-19506D900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B34B3C-40B9-4FD0-98AA-65CCE34A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7179E1-5589-46EB-848F-D924D83E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BB8032-31A2-4067-84C1-7E94916F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513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4BFDF-3200-48B0-B9A7-E4811FF69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EEBF96F-0195-4909-83BD-626626ACF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8EB6D8-4ABA-4E11-A6F4-7CC243658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AA969E-DA24-4FB2-99DB-2E92394A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64C3E5-08B5-415C-A595-FEBC304E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E39D8E-72D9-4BB6-9DF1-0818B4C7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381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5E87B-729E-45BF-8F06-7BDAC609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5D11EE-D401-4A44-A2F7-04B047BC8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CA231-3ADE-4B0C-9203-59E37A3C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721FF-7B38-44C7-B6AE-38476023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3186AB-DF8F-4F14-8E38-CF89DA78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506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1235B6-36BE-47C8-8A54-7273162D2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046EA-1B70-4581-BD34-FD8B9AC90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46B2AB-0725-4918-832F-AA21CC5A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7FFF87-EB19-4502-A60F-771119A3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C6234C-B71D-4E83-BA82-37CB1C31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41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F59EE8-6B77-4691-8253-4E4A5C6B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D70D40-4816-41F0-8C28-647BC8944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EDD404-BE66-45CB-A8A7-EEA58B41B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414F5-C54C-4709-88B7-D0E6C2A42125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87AD93-908A-45E5-9E3B-E1F166B6D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DB139-88AA-4177-B981-A455003E8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65877-BC51-4DAD-B4B7-ACE882DCE8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886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B7DC8-6A26-4C87-B3E8-68EAB0012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Innovación de Sistemas Energéticos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AABBA3-3C74-4FB5-B5DA-80F3BFE5F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6280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Alejandra Tabares</a:t>
            </a:r>
          </a:p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Camilo Gómez</a:t>
            </a:r>
            <a:b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Facultad de Ingeniería</a:t>
            </a:r>
            <a:b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 de los Andes</a:t>
            </a:r>
          </a:p>
        </p:txBody>
      </p:sp>
    </p:spTree>
    <p:extLst>
      <p:ext uri="{BB962C8B-B14F-4D97-AF65-F5344CB8AC3E}">
        <p14:creationId xmlns:p14="http://schemas.microsoft.com/office/powerpoint/2010/main" val="2390535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90D8C-7CC1-460D-9EF4-A27F636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855"/>
            <a:ext cx="10515600" cy="826001"/>
          </a:xfrm>
        </p:spPr>
        <p:txBody>
          <a:bodyPr/>
          <a:lstStyle/>
          <a:p>
            <a:r>
              <a:rPr lang="es-CO" dirty="0"/>
              <a:t>MOTIVACIÓN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F84E64-DA49-4DFE-A1AB-4B1F314F4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380"/>
          <a:stretch/>
        </p:blipFill>
        <p:spPr>
          <a:xfrm>
            <a:off x="185491" y="904411"/>
            <a:ext cx="6347654" cy="26754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B0DF8F-659C-4F6F-9A10-3C4E947CAE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45"/>
          <a:stretch/>
        </p:blipFill>
        <p:spPr>
          <a:xfrm>
            <a:off x="3586453" y="3787935"/>
            <a:ext cx="5955961" cy="30700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C5ECFF-90ED-4D9A-B297-3F4C765EE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749" b="32322"/>
          <a:stretch/>
        </p:blipFill>
        <p:spPr>
          <a:xfrm>
            <a:off x="6862157" y="38256"/>
            <a:ext cx="5578595" cy="3703568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81C8CC5-159C-4D4D-AC5D-A463852F82BC}"/>
              </a:ext>
            </a:extLst>
          </p:cNvPr>
          <p:cNvSpPr/>
          <p:nvPr/>
        </p:nvSpPr>
        <p:spPr>
          <a:xfrm>
            <a:off x="6316579" y="2066665"/>
            <a:ext cx="300789" cy="32761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642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4C7239-EFD2-4C77-8897-5599784FA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fontAlgn="base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O" sz="1800" kern="0" dirty="0">
                <a:solidFill>
                  <a:srgbClr val="01372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RAC 1. Analizar proyectos y sistemas energéticos como sistemas complejos, identificando interdependencias, retroalimentaciones, no linealidades, retardos, adaptación, memoria, eventos extremos y vulnerabilidades relevantes para la toma de decisiones.</a:t>
            </a:r>
            <a:endParaRPr lang="es-CO" sz="1800" kern="100" dirty="0">
              <a:solidFill>
                <a:srgbClr val="01382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O" sz="1800" kern="0" dirty="0">
                <a:solidFill>
                  <a:srgbClr val="01382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RAC 2. Aplicar análisis de redes a la infraestructura eléctrica y a las redes de actores para caracterizar topologías, centralidades, comunidades, mecanismos de difusión y riesgos de cascada en problemas energéticos.</a:t>
            </a:r>
            <a:endParaRPr lang="es-CO" sz="1800" kern="100" dirty="0">
              <a:solidFill>
                <a:srgbClr val="01382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O" sz="1800" kern="0" dirty="0">
                <a:solidFill>
                  <a:srgbClr val="01382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RAC 3. Formular y analizar modelos de dinámica de sistemas mediante stocks, flujos, lazos de retroalimentación y retardos, incorporando datos, políticas, escenarios y sensibilidad para evaluar decisiones bajo incertidumbre.</a:t>
            </a:r>
            <a:endParaRPr lang="es-CO" sz="1800" kern="100" dirty="0">
              <a:solidFill>
                <a:srgbClr val="01382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O" sz="1800" kern="0" dirty="0">
                <a:solidFill>
                  <a:srgbClr val="01382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RAC 4. Integrar dimensiones técnicas, económicas, sociales, ambientales, éticas y de gobernanza para formular y comunicar recomendaciones estratégicas accionables, trazables a evidencia y pertinentes para distintos tomadores de decisión.</a:t>
            </a:r>
            <a:endParaRPr lang="es-CO" sz="1800" kern="100" dirty="0">
              <a:solidFill>
                <a:srgbClr val="01382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E9B96C-237D-4EB0-9C5B-5424E0F4DCF0}"/>
              </a:ext>
            </a:extLst>
          </p:cNvPr>
          <p:cNvSpPr txBox="1">
            <a:spLocks/>
          </p:cNvSpPr>
          <p:nvPr/>
        </p:nvSpPr>
        <p:spPr>
          <a:xfrm>
            <a:off x="838200" y="-7855"/>
            <a:ext cx="10515600" cy="826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350017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AEC59B77-A9C7-476E-A657-E0BBD232F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765042"/>
              </p:ext>
            </p:extLst>
          </p:nvPr>
        </p:nvGraphicFramePr>
        <p:xfrm>
          <a:off x="292154" y="1751313"/>
          <a:ext cx="11565985" cy="39877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5497">
                  <a:extLst>
                    <a:ext uri="{9D8B030D-6E8A-4147-A177-3AD203B41FA5}">
                      <a16:colId xmlns:a16="http://schemas.microsoft.com/office/drawing/2014/main" val="844068423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1654734213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2678516113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1413114186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3515388530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2712942251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1376746963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2904240603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214571250"/>
                    </a:ext>
                  </a:extLst>
                </a:gridCol>
              </a:tblGrid>
              <a:tr h="628779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RAC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VII</a:t>
                      </a: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VIII</a:t>
                      </a:r>
                    </a:p>
                  </a:txBody>
                  <a:tcPr marL="103592" marR="103592" marT="51796" marB="51796"/>
                </a:tc>
                <a:extLst>
                  <a:ext uri="{0D108BD9-81ED-4DB2-BD59-A6C34878D82A}">
                    <a16:rowId xmlns:a16="http://schemas.microsoft.com/office/drawing/2014/main" val="4113454438"/>
                  </a:ext>
                </a:extLst>
              </a:tr>
              <a:tr h="628779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O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Complejidad</a:t>
                      </a:r>
                    </a:p>
                  </a:txBody>
                  <a:tcPr marL="103592" marR="103592" marT="51796" marB="5179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943386"/>
                  </a:ext>
                </a:extLst>
              </a:tr>
              <a:tr h="62877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- 2. Redes</a:t>
                      </a:r>
                    </a:p>
                  </a:txBody>
                  <a:tcPr marL="103592" marR="103592" marT="51796" marB="5179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162199"/>
                  </a:ext>
                </a:extLst>
              </a:tr>
              <a:tr h="62877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- 3. Dinámica</a:t>
                      </a:r>
                    </a:p>
                  </a:txBody>
                  <a:tcPr marL="103592" marR="103592" marT="51796" marB="5179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noFill/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noFill/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548711"/>
                  </a:ext>
                </a:extLst>
              </a:tr>
              <a:tr h="62877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Gobernanza</a:t>
                      </a:r>
                    </a:p>
                  </a:txBody>
                  <a:tcPr marL="103592" marR="103592" marT="51796" marB="5179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noFill/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noFill/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19152"/>
                  </a:ext>
                </a:extLst>
              </a:tr>
              <a:tr h="843854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Proyecto integrador</a:t>
                      </a:r>
                    </a:p>
                  </a:txBody>
                  <a:tcPr marL="103592" marR="103592" marT="51796" marB="5179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tc>
                  <a:txBody>
                    <a:bodyPr/>
                    <a:lstStyle/>
                    <a:p>
                      <a:endParaRPr lang="es-C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592" marR="103592" marT="51796" marB="51796"/>
                </a:tc>
                <a:extLst>
                  <a:ext uri="{0D108BD9-81ED-4DB2-BD59-A6C34878D82A}">
                    <a16:rowId xmlns:a16="http://schemas.microsoft.com/office/drawing/2014/main" val="1006217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76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0B2161F-A891-4CD4-B18D-5C8AA62F7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769" y="0"/>
            <a:ext cx="6852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78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196</Words>
  <Application>Microsoft Office PowerPoint</Application>
  <PresentationFormat>Panorámica</PresentationFormat>
  <Paragraphs>23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Times New Roman</vt:lpstr>
      <vt:lpstr>Tema de Office</vt:lpstr>
      <vt:lpstr>Systems Analytics   Maestría en Innovación de Sistemas Energéticos</vt:lpstr>
      <vt:lpstr>MOTIVACIÓN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 Hernando Gomez Castro</dc:creator>
  <cp:lastModifiedBy>Camilo Hernando Gomez Castro</cp:lastModifiedBy>
  <cp:revision>4</cp:revision>
  <dcterms:created xsi:type="dcterms:W3CDTF">2026-09-17T15:02:47Z</dcterms:created>
  <dcterms:modified xsi:type="dcterms:W3CDTF">2026-09-17T15:26:03Z</dcterms:modified>
</cp:coreProperties>
</file>